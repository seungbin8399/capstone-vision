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C"/>
                </a:solidFill>
                <a:latin typeface="Malgun Gothic"/>
              </a:defRPr>
            </a:pPr>
            <a:r>
              <a:t>RealSense D435 기반 유압블록 비전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7D"/>
                </a:solidFill>
                <a:latin typeface="Malgun Gothic"/>
              </a:defRPr>
            </a:pPr>
            <a:r>
              <a:t>캡스톤 중간 진행 발표 | AI 기반 비정형 유압블록 로봇팔 자동 적재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201400" cy="18288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C"/>
                </a:solidFill>
                <a:latin typeface="Malgun Gothic"/>
              </a:defRPr>
            </a:pPr>
            <a:r>
              <a:t>목표: 유압블록 중심 후보 pixel과 안정화된 depth 추출</a:t>
            </a:r>
          </a:p>
          <a:p>
            <a:pPr>
              <a:spcAft>
                <a:spcPts val="800"/>
              </a:spcAft>
              <a:defRPr sz="1600">
                <a:solidFill>
                  <a:srgbClr val="232D3C"/>
                </a:solidFill>
                <a:latin typeface="Malgun Gothic"/>
              </a:defRPr>
            </a:pPr>
            <a:r>
              <a:t>현재 단계: Windows + Python + OpenCV + pyrealsense2 기반 실험</a:t>
            </a:r>
          </a:p>
          <a:p>
            <a:pPr>
              <a:spcAft>
                <a:spcPts val="800"/>
              </a:spcAft>
              <a:defRPr sz="1600">
                <a:solidFill>
                  <a:srgbClr val="232D3C"/>
                </a:solidFill>
                <a:latin typeface="Malgun Gothic"/>
              </a:defRPr>
            </a:pPr>
            <a:r>
              <a:t>출력: center pixel, depth, camera frame 3D 좌표, CSV 로그</a:t>
            </a:r>
          </a:p>
          <a:p>
            <a:pPr>
              <a:spcAft>
                <a:spcPts val="800"/>
              </a:spcAft>
              <a:defRPr sz="1600">
                <a:solidFill>
                  <a:srgbClr val="232D3C"/>
                </a:solidFill>
                <a:latin typeface="Malgun Gothic"/>
              </a:defRPr>
            </a:pPr>
            <a:r>
              <a:t>향후 ROS2 PoseStamped 및 robot base_link 좌표 변환으로 확장</a:t>
            </a:r>
          </a:p>
        </p:txBody>
      </p:sp>
      <p:pic>
        <p:nvPicPr>
          <p:cNvPr id="6" name="Picture 5" descr="캡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38458"/>
            <a:ext cx="5394960" cy="31581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4800600"/>
            <a:ext cx="4663440" cy="384048"/>
          </a:xfrm>
          <a:prstGeom prst="roundRect">
            <a:avLst/>
          </a:prstGeom>
          <a:solidFill>
            <a:srgbClr val="EBF8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1860AA"/>
                </a:solidFill>
                <a:latin typeface="Malgun Gothic"/>
              </a:defRPr>
            </a:pPr>
            <a:r>
              <a:t>실험 장비: Intel RealSense D435 + 실제 유압블록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687568"/>
            <a:ext cx="112014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ctr">
              <a:defRPr sz="1050">
                <a:solidFill>
                  <a:srgbClr val="2D3A4E"/>
                </a:solidFill>
                <a:latin typeface="Malgun Gothic"/>
              </a:defRPr>
            </a:pPr>
            <a:r>
              <a:t>발표 대본: 이번 발표에서는 전체 자동 적재 시스템 중 비전 파트의 현재 진행상황을 설명드리겠습니다. 현재는 RealSense D435로 유압블록의 중심 후보와 depth를 안정적으로 얻고, camera frame 3D 좌표까지 계산했습니다.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C"/>
                </a:solidFill>
                <a:latin typeface="Malgun Gothic"/>
              </a:defRPr>
            </a:pPr>
            <a:r>
              <a:t>실험 환경 및 조건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201400" cy="18288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  <a:latin typeface="Malgun Gothic"/>
              </a:defRPr>
            </a:pPr>
            <a:r>
              <a:t>환경: Windows 데스크탑, Intel RealSense D435, 실제 금속 유압블록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  <a:latin typeface="Malgun Gothic"/>
              </a:defRPr>
            </a:pPr>
            <a:r>
              <a:t>라이브러리: pyrealsense2, OpenCV, NumPy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  <a:latin typeface="Malgun Gothic"/>
              </a:defRPr>
            </a:pPr>
            <a:r>
              <a:t>RGB/Depth stream 정상 수신 및 aligned depth 사용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  <a:latin typeface="Malgun Gothic"/>
              </a:defRPr>
            </a:pPr>
            <a:r>
              <a:t>현재 조건: 포스트잇 없이 금속 유압블록만 사용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  <a:latin typeface="Malgun Gothic"/>
              </a:defRPr>
            </a:pPr>
            <a:r>
              <a:t>실험 데이터는 CSV로 저장하여 raw/filtered depth 비교</a:t>
            </a:r>
          </a:p>
        </p:txBody>
      </p:sp>
      <p:pic>
        <p:nvPicPr>
          <p:cNvPr id="5" name="Picture 4" descr="캡처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415" y="1280160"/>
            <a:ext cx="5036449" cy="2926080"/>
          </a:xfrm>
          <a:prstGeom prst="rect">
            <a:avLst/>
          </a:prstGeom>
        </p:spPr>
      </p:pic>
      <p:pic>
        <p:nvPicPr>
          <p:cNvPr id="6" name="Picture 5" descr="캡처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87992"/>
            <a:ext cx="5212080" cy="14137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687568"/>
            <a:ext cx="112014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ctr">
              <a:defRPr sz="1050">
                <a:solidFill>
                  <a:srgbClr val="2D3A4E"/>
                </a:solidFill>
                <a:latin typeface="Malgun Gothic"/>
              </a:defRPr>
            </a:pPr>
            <a:r>
              <a:t>발표 대본: 금속 표면은 반사가 심하고 구멍이 많아서 depth가 깨지는 구간이 있었습니다. 그래서 초기에는 자동 인식보다 안정적인 depth 측정과 로그 확보에 초점을 맞췄습니다.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C"/>
                </a:solidFill>
                <a:latin typeface="Malgun Gothic"/>
              </a:defRPr>
            </a:pPr>
            <a:r>
              <a:t>초기 시행착오: 자동 contour/depth mask의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201400" cy="18288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  <a:latin typeface="Malgun Gothic"/>
              </a:defRPr>
            </a:pPr>
            <a:r>
              <a:t>Depth mask 방식: 금속 유압블록 depth가 중간중간 깨짐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  <a:latin typeface="Malgun Gothic"/>
              </a:defRPr>
            </a:pPr>
            <a:r>
              <a:t>배경/책상 depth가 더 안정적으로 잡혀 큰 contour가 생성됨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  <a:latin typeface="Malgun Gothic"/>
              </a:defRPr>
            </a:pPr>
            <a:r>
              <a:t>Color contour 방식: 반사와 구멍 때문에 mask가 조각남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  <a:latin typeface="Malgun Gothic"/>
              </a:defRPr>
            </a:pPr>
            <a:r>
              <a:t>결론: 현재 단계에서는 fixed ROI 기반 측정이 더 안정적</a:t>
            </a:r>
          </a:p>
        </p:txBody>
      </p:sp>
      <p:pic>
        <p:nvPicPr>
          <p:cNvPr id="5" name="Picture 4" descr="캡처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37644"/>
            <a:ext cx="5623560" cy="1559551"/>
          </a:xfrm>
          <a:prstGeom prst="rect">
            <a:avLst/>
          </a:prstGeom>
        </p:spPr>
      </p:pic>
      <p:pic>
        <p:nvPicPr>
          <p:cNvPr id="6" name="Picture 5" descr="캡처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507832"/>
            <a:ext cx="5623560" cy="1533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4773168"/>
            <a:ext cx="4251960" cy="457200"/>
          </a:xfrm>
          <a:prstGeom prst="roundRect">
            <a:avLst/>
          </a:prstGeom>
          <a:solidFill>
            <a:srgbClr val="FFF5E6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965014"/>
                </a:solidFill>
                <a:latin typeface="Malgun Gothic"/>
              </a:defRPr>
            </a:pPr>
            <a:r>
              <a:t>검출 자동화보다 안정적인 측정값 확보를 우선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687568"/>
            <a:ext cx="112014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ctr">
              <a:defRPr sz="1050">
                <a:solidFill>
                  <a:srgbClr val="2D3A4E"/>
                </a:solidFill>
                <a:latin typeface="Malgun Gothic"/>
              </a:defRPr>
            </a:pPr>
            <a:r>
              <a:t>발표 대본: 처음에는 depth mask와 color contour를 적용했지만, 금속 표면의 특성 때문에 bbox가 크게 잡히거나 중심점이 흔들렸습니다. 그래서 중간 단계에서는 fixed ROI로 안정적인 측정 기준을 먼저 만들었습니다.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C"/>
                </a:solidFill>
                <a:latin typeface="Malgun Gothic"/>
              </a:defRPr>
            </a:pPr>
            <a:r>
              <a:t>현재 적용한 fixed ROI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201400" cy="18288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파란 박스: manual ROI, 유압블록 전체 영역</a:t>
            </a:r>
          </a:p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빨간 점: center_u, center_v = 유압블록 중심 후보 pixel</a:t>
            </a:r>
          </a:p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초록 박스/점: sample_u, sample_v = 실제 depth 측정 위치</a:t>
            </a:r>
          </a:p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중심 구멍과 반사를 피하기 위해 중심 후보와 depth sampling 위치를 분리</a:t>
            </a:r>
          </a:p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최근 5개 valid depth의 rolling median으로 filtered_depth 계산</a:t>
            </a:r>
          </a:p>
        </p:txBody>
      </p:sp>
      <p:pic>
        <p:nvPicPr>
          <p:cNvPr id="5" name="Picture 4" descr="캡처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23931"/>
            <a:ext cx="5303520" cy="14385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99632" y="4526280"/>
            <a:ext cx="4663440" cy="457200"/>
          </a:xfrm>
          <a:prstGeom prst="roundRect">
            <a:avLst/>
          </a:prstGeom>
          <a:solidFill>
            <a:srgbClr val="EBF8F0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248250"/>
                </a:solidFill>
                <a:latin typeface="Malgun Gothic"/>
              </a:defRPr>
            </a:pPr>
            <a:r>
              <a:t>빨간 점은 물체 중심 후보, 초록 점은 depth 읽는 지점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87568"/>
            <a:ext cx="112014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ctr">
              <a:defRPr sz="1050">
                <a:solidFill>
                  <a:srgbClr val="2D3A4E"/>
                </a:solidFill>
                <a:latin typeface="Malgun Gothic"/>
              </a:defRPr>
            </a:pPr>
            <a:r>
              <a:t>발표 대본: 현재 방식에서는 중심 후보와 depth를 읽는 위치를 의도적으로 분리했습니다. 로봇에는 중심 후보를 넘기되, depth는 구멍이나 반사가 적은 표면에서 읽어 안정성을 높였습니다.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C"/>
                </a:solidFill>
                <a:latin typeface="Malgun Gothic"/>
              </a:defRPr>
            </a:pPr>
            <a:r>
              <a:t>안정 설정 및 로그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201400" cy="18288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20">
                <a:solidFill>
                  <a:srgbClr val="232D3C"/>
                </a:solidFill>
                <a:latin typeface="Malgun Gothic"/>
              </a:defRPr>
            </a:pPr>
            <a:r>
              <a:t>Manual ROI: X1=230, Y1=230, X2=420, Y2=440</a:t>
            </a:r>
          </a:p>
          <a:p>
            <a:pPr>
              <a:spcAft>
                <a:spcPts val="800"/>
              </a:spcAft>
              <a:defRPr sz="1420">
                <a:solidFill>
                  <a:srgbClr val="232D3C"/>
                </a:solidFill>
                <a:latin typeface="Malgun Gothic"/>
              </a:defRPr>
            </a:pPr>
            <a:r>
              <a:t>Depth sampling offset: X=-20, Y=-20</a:t>
            </a:r>
          </a:p>
          <a:p>
            <a:pPr>
              <a:spcAft>
                <a:spcPts val="800"/>
              </a:spcAft>
              <a:defRPr sz="1420">
                <a:solidFill>
                  <a:srgbClr val="232D3C"/>
                </a:solidFill>
                <a:latin typeface="Malgun Gothic"/>
              </a:defRPr>
            </a:pPr>
            <a:r>
              <a:t>Depth sample radius: 10 px, 즉 21x21 영역 median</a:t>
            </a:r>
          </a:p>
          <a:p>
            <a:pPr>
              <a:spcAft>
                <a:spcPts val="800"/>
              </a:spcAft>
              <a:defRPr sz="1420">
                <a:solidFill>
                  <a:srgbClr val="232D3C"/>
                </a:solidFill>
                <a:latin typeface="Malgun Gothic"/>
              </a:defRPr>
            </a:pPr>
            <a:r>
              <a:t>center pixel: (325, 335) / sample pixel: (305, 315)</a:t>
            </a:r>
          </a:p>
          <a:p>
            <a:pPr>
              <a:spcAft>
                <a:spcPts val="800"/>
              </a:spcAft>
              <a:defRPr sz="1420">
                <a:solidFill>
                  <a:srgbClr val="232D3C"/>
                </a:solidFill>
                <a:latin typeface="Malgun Gothic"/>
              </a:defRPr>
            </a:pPr>
            <a:r>
              <a:t>raw_depth: 0.411~0.414m</a:t>
            </a:r>
          </a:p>
          <a:p>
            <a:pPr>
              <a:spcAft>
                <a:spcPts val="800"/>
              </a:spcAft>
              <a:defRPr sz="1420">
                <a:solidFill>
                  <a:srgbClr val="232D3C"/>
                </a:solidFill>
                <a:latin typeface="Malgun Gothic"/>
              </a:defRPr>
            </a:pPr>
            <a:r>
              <a:t>filtered_depth: 0.412~0.414m</a:t>
            </a:r>
          </a:p>
        </p:txBody>
      </p:sp>
      <p:pic>
        <p:nvPicPr>
          <p:cNvPr id="5" name="Picture 4" descr="depth_stabilit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39101"/>
            <a:ext cx="5577840" cy="26367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4709160"/>
            <a:ext cx="4389120" cy="438912"/>
          </a:xfrm>
          <a:prstGeom prst="roundRect">
            <a:avLst/>
          </a:prstGeom>
          <a:solidFill>
            <a:srgbClr val="EBF8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1860AA"/>
                </a:solidFill>
                <a:latin typeface="Malgun Gothic"/>
              </a:defRPr>
            </a:pPr>
            <a:r>
              <a:t>depth 흔들림 약 2~3mm 수준으로 안정화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87568"/>
            <a:ext cx="112014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ctr">
              <a:defRPr sz="1050">
                <a:solidFill>
                  <a:srgbClr val="2D3A4E"/>
                </a:solidFill>
                <a:latin typeface="Malgun Gothic"/>
              </a:defRPr>
            </a:pPr>
            <a:r>
              <a:t>발표 대본: 현재 without_postit 조건에서 raw depth와 filtered depth가 0.412에서 0.414m 부근으로 안정적으로 측정되었습니다. invalid depth도 거의 없어서 다음 좌표 변환 단계로 넘어갈 수 있는 상태입니다.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C"/>
                </a:solidFill>
                <a:latin typeface="Malgun Gothic"/>
              </a:defRPr>
            </a:pPr>
            <a:r>
              <a:t>Camera Frame 3D 좌표 변환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201400" cy="18288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RealSense color stream profile에서 intrinsics를 직접 읽어 사용</a:t>
            </a:r>
          </a:p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fx=604.475, fy=603.970, cx=332.253, cy=244.044</a:t>
            </a:r>
          </a:p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공식: X=(u-cx)Z/fx, Y=(v-cy)Z/fy, Z=filtered_depth</a:t>
            </a:r>
          </a:p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결과 평균: X=-0.005m, Y=0.062m, Z=0.412m</a:t>
            </a:r>
          </a:p>
          <a:p>
            <a:pPr>
              <a:spcAft>
                <a:spcPts val="800"/>
              </a:spcAft>
              <a:defRPr sz="1450">
                <a:solidFill>
                  <a:srgbClr val="232D3C"/>
                </a:solidFill>
                <a:latin typeface="Malgun Gothic"/>
              </a:defRPr>
            </a:pPr>
            <a:r>
              <a:t>주의: 현재 좌표는 robot base_link가 아니라 camera frame 기준</a:t>
            </a:r>
          </a:p>
        </p:txBody>
      </p:sp>
      <p:pic>
        <p:nvPicPr>
          <p:cNvPr id="5" name="Picture 4" descr="camera_xyz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24554"/>
            <a:ext cx="5349240" cy="25287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4617720"/>
            <a:ext cx="4251960" cy="457200"/>
          </a:xfrm>
          <a:prstGeom prst="roundRect">
            <a:avLst/>
          </a:prstGeom>
          <a:solidFill>
            <a:srgbClr val="EBF8F0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248250"/>
                </a:solidFill>
                <a:latin typeface="Malgun Gothic"/>
              </a:defRPr>
            </a:pPr>
            <a:r>
              <a:t>camera_xyz≈(-0.005, 0.062, 0.412)m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87568"/>
            <a:ext cx="112014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ctr">
              <a:defRPr sz="1050">
                <a:solidFill>
                  <a:srgbClr val="2D3A4E"/>
                </a:solidFill>
                <a:latin typeface="Malgun Gothic"/>
              </a:defRPr>
            </a:pPr>
            <a:r>
              <a:t>발표 대본: pixel 좌표와 filtered depth를 이용해 카메라 기준 3D 좌표를 계산했습니다. 현재 결과는 카메라 기준 위치이며, 실제 로봇 제어에는 base_link 기준 좌표로 변환하는 과정이 추가로 필요합니다.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C"/>
                </a:solidFill>
                <a:latin typeface="Malgun Gothic"/>
              </a:defRPr>
            </a:pPr>
            <a:r>
              <a:t>현재 한계와 다음 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201400" cy="18288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577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70">
                <a:solidFill>
                  <a:srgbClr val="232D3C"/>
                </a:solidFill>
                <a:latin typeface="Malgun Gothic"/>
              </a:defRPr>
            </a:pPr>
            <a:r>
              <a:t>현재 한계</a:t>
            </a:r>
          </a:p>
          <a:p>
            <a:pPr>
              <a:spcAft>
                <a:spcPts val="800"/>
              </a:spcAft>
              <a:defRPr sz="1370">
                <a:solidFill>
                  <a:srgbClr val="232D3C"/>
                </a:solidFill>
                <a:latin typeface="Malgun Gothic"/>
              </a:defRPr>
            </a:pPr>
            <a:r>
              <a:t>manual ROI 기반이므로 완전 자동 검출은 아님</a:t>
            </a:r>
          </a:p>
          <a:p>
            <a:pPr>
              <a:spcAft>
                <a:spcPts val="800"/>
              </a:spcAft>
              <a:defRPr sz="1370">
                <a:solidFill>
                  <a:srgbClr val="232D3C"/>
                </a:solidFill>
                <a:latin typeface="Malgun Gothic"/>
              </a:defRPr>
            </a:pPr>
            <a:r>
              <a:t>금속 표면 반사와 구멍 때문에 샘플링 위치에 민감함</a:t>
            </a:r>
          </a:p>
          <a:p>
            <a:pPr>
              <a:spcAft>
                <a:spcPts val="800"/>
              </a:spcAft>
              <a:defRPr sz="1370">
                <a:solidFill>
                  <a:srgbClr val="232D3C"/>
                </a:solidFill>
                <a:latin typeface="Malgun Gothic"/>
              </a:defRPr>
            </a:pPr>
            <a:r>
              <a:t>현재 좌표는 camera frame 기준이며 robot base_link 기준이 아님</a:t>
            </a:r>
          </a:p>
          <a:p>
            <a:pPr>
              <a:spcAft>
                <a:spcPts val="800"/>
              </a:spcAft>
              <a:defRPr sz="1370">
                <a:solidFill>
                  <a:srgbClr val="232D3C"/>
                </a:solidFill>
                <a:latin typeface="Malgun Gothic"/>
              </a:defRPr>
            </a:pPr>
            <a:r>
              <a:t>다음 단계</a:t>
            </a:r>
          </a:p>
          <a:p>
            <a:pPr>
              <a:spcAft>
                <a:spcPts val="800"/>
              </a:spcAft>
              <a:defRPr sz="1370">
                <a:solidFill>
                  <a:srgbClr val="232D3C"/>
                </a:solidFill>
                <a:latin typeface="Malgun Gothic"/>
              </a:defRPr>
            </a:pPr>
            <a:r>
              <a:t>ROS2 비전 노드로 포팅하고 PoseStamped publish</a:t>
            </a:r>
          </a:p>
          <a:p>
            <a:pPr>
              <a:spcAft>
                <a:spcPts val="800"/>
              </a:spcAft>
              <a:defRPr sz="1370">
                <a:solidFill>
                  <a:srgbClr val="232D3C"/>
                </a:solidFill>
                <a:latin typeface="Malgun Gothic"/>
              </a:defRPr>
            </a:pPr>
            <a:r>
              <a:t>camera_xyz → robot base_link 좌표 변환(TF/extrinsic calibration)</a:t>
            </a:r>
          </a:p>
          <a:p>
            <a:pPr>
              <a:spcAft>
                <a:spcPts val="800"/>
              </a:spcAft>
              <a:defRPr sz="1370">
                <a:solidFill>
                  <a:srgbClr val="232D3C"/>
                </a:solidFill>
                <a:latin typeface="Malgun Gothic"/>
              </a:defRPr>
            </a:pPr>
            <a:r>
              <a:t>연구실 환경에서 조명, 카메라 각도, 거리 재측정</a:t>
            </a:r>
          </a:p>
          <a:p>
            <a:pPr>
              <a:spcAft>
                <a:spcPts val="800"/>
              </a:spcAft>
              <a:defRPr sz="1370">
                <a:solidFill>
                  <a:srgbClr val="232D3C"/>
                </a:solidFill>
                <a:latin typeface="Malgun Gothic"/>
              </a:defRPr>
            </a:pPr>
            <a:r>
              <a:t>OMY-F3M 로봇팔 motion planning 목표점과 연동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417320"/>
            <a:ext cx="1920240" cy="713232"/>
          </a:xfrm>
          <a:prstGeom prst="roundRect">
            <a:avLst/>
          </a:prstGeom>
          <a:solidFill>
            <a:srgbClr val="EBF8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1860AA"/>
                </a:solidFill>
                <a:latin typeface="Malgun Gothic"/>
              </a:defRPr>
            </a:pPr>
            <a:r>
              <a:t>RealSense</a:t>
            </a:r>
            <a:br/>
            <a:r>
              <a:t>RGB/Depth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17320"/>
            <a:ext cx="1920240" cy="713232"/>
          </a:xfrm>
          <a:prstGeom prst="roundRect">
            <a:avLst/>
          </a:prstGeom>
          <a:solidFill>
            <a:srgbClr val="EBF8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1860AA"/>
                </a:solidFill>
                <a:latin typeface="Malgun Gothic"/>
              </a:defRPr>
            </a:pPr>
            <a:r>
              <a:t>Vision Node</a:t>
            </a:r>
            <a:br/>
            <a:r>
              <a:t>fixed ROI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560320"/>
            <a:ext cx="1920240" cy="713232"/>
          </a:xfrm>
          <a:prstGeom prst="roundRect">
            <a:avLst/>
          </a:prstGeom>
          <a:solidFill>
            <a:srgbClr val="EBF8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1860AA"/>
                </a:solidFill>
                <a:latin typeface="Malgun Gothic"/>
              </a:defRPr>
            </a:pPr>
            <a:r>
              <a:t>PoseStamped</a:t>
            </a:r>
            <a:br/>
            <a:r>
              <a:t>/detection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560320"/>
            <a:ext cx="1920240" cy="713232"/>
          </a:xfrm>
          <a:prstGeom prst="roundRect">
            <a:avLst/>
          </a:prstGeom>
          <a:solidFill>
            <a:srgbClr val="EBF8F0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248250"/>
                </a:solidFill>
                <a:latin typeface="Malgun Gothic"/>
              </a:defRPr>
            </a:pPr>
            <a:r>
              <a:t>TF 변환</a:t>
            </a:r>
            <a:br/>
            <a:r>
              <a:t>base_link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703320"/>
            <a:ext cx="1920240" cy="713232"/>
          </a:xfrm>
          <a:prstGeom prst="roundRect">
            <a:avLst/>
          </a:prstGeom>
          <a:solidFill>
            <a:srgbClr val="EBF8F0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200" b="1">
                <a:solidFill>
                  <a:srgbClr val="248250"/>
                </a:solidFill>
                <a:latin typeface="Malgun Gothic"/>
              </a:defRPr>
            </a:pPr>
            <a:r>
              <a:t>OMY-F3M</a:t>
            </a:r>
            <a:br/>
            <a:r>
              <a:t>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687568"/>
            <a:ext cx="11201400" cy="822960"/>
          </a:xfrm>
          <a:prstGeom prst="roundRect">
            <a:avLst/>
          </a:prstGeom>
          <a:solidFill>
            <a:srgbClr val="EFF4FA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ctr">
              <a:defRPr sz="1050">
                <a:solidFill>
                  <a:srgbClr val="2D3A4E"/>
                </a:solidFill>
                <a:latin typeface="Malgun Gothic"/>
              </a:defRPr>
            </a:pPr>
            <a:r>
              <a:t>발표 대본: 현재는 비전 측정값을 안정화한 단계입니다. 다음에는 ROS2에서 PoseStamped 형태로 publish하고, 카메라 좌표계를 로봇 base_link 좌표계로 변환한 뒤 OMY-F3M 로봇팔의 목표 위치로 연결하겠습니다.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